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TBX — BVP TECH CATALYST HACKATHON | CONVERSATIONAL FINANCE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8FAFC"/>
                </a:solidFill>
              </a:defRPr>
            </a:pPr>
            <a:r>
              <a:t>Grounded Financial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94A3B8"/>
                </a:solidFill>
              </a:defRPr>
            </a:pPr>
            <a:r>
              <a:t>A High-Stakes Finance Assistant with Zero Math Hallucination,</a:t>
            </a:r>
            <a:br/>
            <a:r>
              <a:t>Deterministic In-Memory OLAP, and Parameterized Guardrails.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297680"/>
            <a:ext cx="2468880" cy="16459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407408"/>
            <a:ext cx="2249424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0% Math Hallucination</a:t>
            </a:r>
          </a:p>
          <a:p>
            <a:pPr>
              <a:spcBef>
                <a:spcPts val="600"/>
              </a:spcBef>
              <a:defRPr sz="950">
                <a:solidFill>
                  <a:srgbClr val="94A3B8"/>
                </a:solidFill>
              </a:defRPr>
            </a:pPr>
            <a:r>
              <a:t>DuckDB computes all sums, avgs, and counts in C++ OLAP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4297680"/>
            <a:ext cx="2468880" cy="16459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0168" y="4407408"/>
            <a:ext cx="2249424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Dynamic Date Anchoring</a:t>
            </a:r>
          </a:p>
          <a:p>
            <a:pPr>
              <a:spcBef>
                <a:spcPts val="600"/>
              </a:spcBef>
              <a:defRPr sz="950">
                <a:solidFill>
                  <a:srgbClr val="94A3B8"/>
                </a:solidFill>
              </a:defRPr>
            </a:pPr>
            <a:r>
              <a:t>Relative dates anchored to MAX(payout_date) = 2024-05-31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4297680"/>
            <a:ext cx="2468880" cy="16459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8" y="4407408"/>
            <a:ext cx="2249424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43F5E"/>
                </a:solidFill>
              </a:defRPr>
            </a:pPr>
            <a:r>
              <a:t>SQL Injection Immunity</a:t>
            </a:r>
          </a:p>
          <a:p>
            <a:pPr>
              <a:spcBef>
                <a:spcPts val="600"/>
              </a:spcBef>
              <a:defRPr sz="950">
                <a:solidFill>
                  <a:srgbClr val="94A3B8"/>
                </a:solidFill>
              </a:defRPr>
            </a:pPr>
            <a:r>
              <a:t>Strict '?' parameter bindings neutralize all injection attacks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4297680"/>
            <a:ext cx="2468880" cy="16459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42248" y="4407408"/>
            <a:ext cx="2249424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Scored Model Choice (20%)</a:t>
            </a:r>
          </a:p>
          <a:p>
            <a:pPr>
              <a:spcBef>
                <a:spcPts val="600"/>
              </a:spcBef>
              <a:defRPr sz="950">
                <a:solidFill>
                  <a:srgbClr val="94A3B8"/>
                </a:solidFill>
              </a:defRPr>
            </a:pPr>
            <a:r>
              <a:t>Groq LPU (openai/gpt-oss-120b): 500+ tok/s at ~$0.0002/query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TBX — BVP TECH CATALYST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The Problem: Why Naive RAG &amp; Direct LLMs Fail in Corporate Finance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12080" cy="512064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17320"/>
            <a:ext cx="48463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F43F5E"/>
                </a:solidFill>
              </a:defRPr>
            </a:pPr>
            <a:r>
              <a:t>THE 4 FATAL TRAPS OF NAIVE FINANCE CHATBOTS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</a:defRPr>
            </a:pPr>
            <a:r>
              <a:t>1. The Arithmetic Mirage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LLMs are probabilistic token predictors, not arithmetic calculators. When asked to sum 10 invoices, they hallucinate numbers ($14,320 vs $14,890). In corporate finance, a 2% error rate is a board-level failure.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</a:defRPr>
            </a:pPr>
            <a:r>
              <a:t>2. Floating Temporal Bounds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Queries like 'What did we spend last month?' fail when anchored to real-world calendar clocks. When evaluating historic Q2 datasets in September, naive systems return empty tables.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</a:defRPr>
            </a:pPr>
            <a:r>
              <a:t>3. Silent Hallucinations on Missing Data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When asked about a non-existent vendor (e.g. Netflix), naive bots invent plausible subscription charges or misreport total company spend instead of stating data absence.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</a:defRPr>
            </a:pPr>
            <a:r>
              <a:t>4. Entity Ambiguities &amp; Injection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Colloquial abbreviations ('AWS') and shared names ('Amazon Web Services' vs 'Amazon Logistics') confuse naive RAG. Furthermore, raw SQL generation exposes systems to SQL injection.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12064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484632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OUR HIGH-STAKES FINANCIAL PRINCIPLES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</a:defRPr>
            </a:pPr>
            <a:r>
              <a:t>1. Zero Model Arithmetic (DuckDB OLAP)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The LLM is strictly prohibited from doing arithmetic. All aggregations (SUM, AVG, COUNT) are executed deterministically by DuckDB in C++ vectorized memory in &lt;5ms.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</a:defRPr>
            </a:pPr>
            <a:r>
              <a:t>2. Dynamic Anchor Date Engine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The temporal engine dynamically calculates MAX(payout_date) = 2024-05-31 from the database. 'Last month' deterministically anchors to April 2024 without calendar drift.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</a:defRPr>
            </a:pPr>
            <a:r>
              <a:t>3. Explicit 3-Way Guardrail Gate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Queries pass through a 3-way resolution filter: MATCH (proceed), AMBIGUOUS (ask user clarification), or NOT_FOUND (halts before execution; zero hallucination).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</a:defRPr>
            </a:pPr>
            <a:r>
              <a:t>4. Complete Auditability &amp; Injection Immunity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Queries use safe '?' parameter bindings. Every answer is paired with the verifiable underlying records table, 1-click CSV export, and raw executed SQL drawer.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TBX — BVP TECH CATALYST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Our Approach: The 5-Stage Grounded Architecture</a:t>
            </a:r>
          </a:p>
        </p:txBody>
      </p:sp>
      <p:pic>
        <p:nvPicPr>
          <p:cNvPr id="5" name="Picture 4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28655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TBX — BVP TECH CATALYST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Model Choice Rationale: Why Groq LPU with openai/gpt-oss-120b? (20% Score)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5257800" cy="242316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99032"/>
            <a:ext cx="4928616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1. Strict Separation of Concerns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Scoped Role: The model is used exclusively as a linguistic semantic compiler—extracting structured JSON intent and entity names.</a:t>
            </a:r>
            <a:br/>
            <a:r>
              <a:t>• Offloaded Computation: Heavy analytical SQL, filtering, and arithmetic are offloaded to DuckDB.</a:t>
            </a:r>
            <a:br/>
            <a:r>
              <a:t>• Result: Eliminates 100% of mathematical hallucinations while keeping model prompt overhead minimal.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234440"/>
            <a:ext cx="5257800" cy="242316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36792" y="1399032"/>
            <a:ext cx="4928616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2. Ultra-Fast Inference (&lt;400ms)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Groq LPU Hardware: Executes inference at 500+ tokens/second.</a:t>
            </a:r>
            <a:br/>
            <a:r>
              <a:t>• Intent Parsing Latency: Completes in ~350ms, compared to 3-5 seconds on traditional frontier models (GPT-4 / Claude Opus).</a:t>
            </a:r>
            <a:br/>
            <a:r>
              <a:t>• Total Engine Response: Complete analytical pipeline returns in under 1 second.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94760"/>
            <a:ext cx="5257800" cy="242316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959352"/>
            <a:ext cx="4928616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3. Operational Cost Efficiency (~$0.0002 / query)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Economic Viability: Deploying massive proprietary frontier models for routine schema mapping is cost-prohibitive in enterprise production.</a:t>
            </a:r>
            <a:br/>
            <a:r>
              <a:t>• gpt-oss-120b on Groq delivers enterprise-grade entity precision at approximately 1/50th the operating cost of closed APIs.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794760"/>
            <a:ext cx="5257800" cy="242316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3959352"/>
            <a:ext cx="4928616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A855F7"/>
                </a:solidFill>
              </a:defRPr>
            </a:pPr>
            <a:r>
              <a:t>4. 100% Empirical Benchmark Accuracy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Test Suite Integrity: Passed 13 out of 13 automated edge-case test cases.</a:t>
            </a:r>
            <a:br/>
            <a:r>
              <a:t>• 0% Arithmetic Errors: Mathematical calculations verified against database ground truth.</a:t>
            </a:r>
            <a:br/>
            <a:r>
              <a:t>• Zero SQL Syntax Failures: Deterministic query compiler guarantees valid DuckDB execution.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TBX — BVP TECH CATALYST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Live Demo Playbook: 4 High-Impact Evaluation Moments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10728655" cy="1170432"/>
          </a:xfrm>
          <a:prstGeom prst="roundRect">
            <a:avLst/>
          </a:prstGeom>
          <a:solidFill>
            <a:srgbClr val="131C2E"/>
          </a:solidFill>
          <a:ln w="1778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325880"/>
            <a:ext cx="10396728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MOMENT 1: SPEND AGGREGATION + STATISTICAL ANOMALY ALERT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Query: 'How much did we spend on Acme Corporation in May 2024?'  |  Behind the Scenes: DuckDB sums $71,468.17 across 3 payouts. Statistical anomaly engine compares against an uncontaminated historical baseline ($6,356.18).</a:t>
            </a:r>
          </a:p>
          <a:p>
            <a:pPr>
              <a:spcBef>
                <a:spcPts val="200"/>
              </a:spcBef>
              <a:defRPr sz="880" b="1">
                <a:solidFill>
                  <a:srgbClr val="38BDF8"/>
                </a:solidFill>
              </a:defRPr>
            </a:pPr>
            <a:r>
              <a:t>Result: Expected Output: Full spend breakdown + Amber Warning Box: 'Payout on 2024-05-24 of $58,500.00 is 9.2x higher than historical average ($6,356.18)'.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10728655" cy="1170432"/>
          </a:xfrm>
          <a:prstGeom prst="roundRect">
            <a:avLst/>
          </a:prstGeom>
          <a:solidFill>
            <a:srgbClr val="131C2E"/>
          </a:solidFill>
          <a:ln w="1778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06040"/>
            <a:ext cx="10396728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MOMENT 2: DYNAMIC ACRONYM + RELATIVE DATE ANCHOR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Query: 'What was our total spend on AWS last month?'  |  Behind the Scenes: Dynamic acronym resolver normalizes 'AWS' -&gt; 'Amazon Web Services, Inc.'. Temporal engine anchors 'last month' to April 2024.</a:t>
            </a:r>
          </a:p>
          <a:p>
            <a:pPr>
              <a:spcBef>
                <a:spcPts val="200"/>
              </a:spcBef>
              <a:defRPr sz="880" b="1">
                <a:solidFill>
                  <a:srgbClr val="38BDF8"/>
                </a:solidFill>
              </a:defRPr>
            </a:pPr>
            <a:r>
              <a:t>Result: Expected Output: Returns $11,674.56 for April 2024. SQL drawer confirms BETWEEN '2024-04-01' AND '2024-04-30'.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94760"/>
            <a:ext cx="10728655" cy="1170432"/>
          </a:xfrm>
          <a:prstGeom prst="roundRect">
            <a:avLst/>
          </a:prstGeom>
          <a:solidFill>
            <a:srgbClr val="131C2E"/>
          </a:solidFill>
          <a:ln w="1778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886200"/>
            <a:ext cx="10396728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43F5E"/>
                </a:solidFill>
              </a:defRPr>
            </a:pPr>
            <a:r>
              <a:t>MOMENT 3: MISSING DATA GUARDRAIL (ZERO HALLUCINATION)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Query: 'What did we pay Netflix last month?'  |  Behind the Scenes: Resolver checks entity against known vendors -&gt; NOT_FOUND. Short-circuits query before database execution.</a:t>
            </a:r>
          </a:p>
          <a:p>
            <a:pPr>
              <a:spcBef>
                <a:spcPts val="200"/>
              </a:spcBef>
              <a:defRPr sz="880" b="1">
                <a:solidFill>
                  <a:srgbClr val="38BDF8"/>
                </a:solidFill>
              </a:defRPr>
            </a:pPr>
            <a:r>
              <a:t>Result: Expected Output: 'I don't have data for vendor Netflix in our financial records.' No SQL executed, 0% hallucination, 0.0 confidence.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74919"/>
            <a:ext cx="10728655" cy="1170432"/>
          </a:xfrm>
          <a:prstGeom prst="roundRect">
            <a:avLst/>
          </a:prstGeom>
          <a:solidFill>
            <a:srgbClr val="131C2E"/>
          </a:solidFill>
          <a:ln w="1778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166359"/>
            <a:ext cx="10396728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MOMENT 4: ACCOUNTING AUDIT &amp; COMPLETE VERIFIABILITY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Query: 'Which transactions are still unreconciled?'  |  Behind the Scenes: Joins transactions with reconciliation_status on non-binary state 'unreconciled'.</a:t>
            </a:r>
          </a:p>
          <a:p>
            <a:pPr>
              <a:spcBef>
                <a:spcPts val="200"/>
              </a:spcBef>
              <a:defRPr sz="880" b="1">
                <a:solidFill>
                  <a:srgbClr val="38BDF8"/>
                </a:solidFill>
              </a:defRPr>
            </a:pPr>
            <a:r>
              <a:t>Result: Expected Output: Plain-language summary + Interactive verifiable records table + 1-Click CSV export + Executed DuckDB SQL drawer.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TBX — BVP TECH CATALYST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Evaluation Scorecard: Built to Excel on Every Rubric Criterion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2560320" cy="512064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17320"/>
            <a:ext cx="228600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WEIGHT: 30%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Accuracy &amp; Grounding</a:t>
            </a:r>
          </a:p>
          <a:p>
            <a:pPr>
              <a:spcBef>
                <a:spcPts val="1000"/>
              </a:spcBef>
              <a:defRPr sz="900">
                <a:solidFill>
                  <a:srgbClr val="94A3B8"/>
                </a:solidFill>
              </a:defRPr>
            </a:pPr>
            <a:r>
              <a:t>• 0% LLM Math Hallucination: All sums, avgs, and counts computed in DuckDB.</a:t>
            </a:r>
            <a:br/>
            <a:r>
              <a:t>• Grounded Retrieval: Relational joins across 5 financial schemas.</a:t>
            </a:r>
            <a:br/>
            <a:r>
              <a:t>• Verifiable Breakdown: Every response pairs narrative with interactive data 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280160"/>
            <a:ext cx="2560320" cy="512064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417320"/>
            <a:ext cx="228600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WEIGHT: 20%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Model Choice &amp; Efficiency</a:t>
            </a:r>
          </a:p>
          <a:p>
            <a:pPr>
              <a:spcBef>
                <a:spcPts val="1000"/>
              </a:spcBef>
              <a:defRPr sz="900">
                <a:solidFill>
                  <a:srgbClr val="94A3B8"/>
                </a:solidFill>
              </a:defRPr>
            </a:pPr>
            <a:r>
              <a:t>• Scored Architecture: Groq LPU engine with openai/gpt-oss-120b.</a:t>
            </a:r>
            <a:br/>
            <a:r>
              <a:t>• Ultra-Low Latency: Intent extraction in ~350ms at 500+ tokens/second.</a:t>
            </a:r>
            <a:br/>
            <a:r>
              <a:t>• Extreme Cost Efficiency: ~$0.0002 per query; zero computational waste.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280160"/>
            <a:ext cx="2560320" cy="512064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417320"/>
            <a:ext cx="228600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A855F7"/>
                </a:solidFill>
              </a:defRPr>
            </a:pPr>
            <a:r>
              <a:t>WEIGHT: 15%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Natural Language Understanding</a:t>
            </a:r>
          </a:p>
          <a:p>
            <a:pPr>
              <a:spcBef>
                <a:spcPts val="1000"/>
              </a:spcBef>
              <a:defRPr sz="900">
                <a:solidFill>
                  <a:srgbClr val="94A3B8"/>
                </a:solidFill>
              </a:defRPr>
            </a:pPr>
            <a:r>
              <a:t>• Dynamic Acronym Engine: Resolves AWS, GCP, etc. dynamically without static maps.</a:t>
            </a:r>
            <a:br/>
            <a:r>
              <a:t>• Temporal Engine: Anchors relative dates ('last month', 'YTD') to MAX(payout_date).</a:t>
            </a:r>
            <a:br/>
            <a:r>
              <a:t>• Multi-Turn Context: Persists entity context across multi-step conversational chains.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280160"/>
            <a:ext cx="2560320" cy="512064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417320"/>
            <a:ext cx="2286000" cy="4846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59E0B"/>
                </a:solidFill>
              </a:defRPr>
            </a:pPr>
            <a:r>
              <a:t>WEIGHT: 35%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Functionality &amp; Bonus Features</a:t>
            </a:r>
          </a:p>
          <a:p>
            <a:pPr>
              <a:spcBef>
                <a:spcPts val="1000"/>
              </a:spcBef>
              <a:defRPr sz="900">
                <a:solidFill>
                  <a:srgbClr val="94A3B8"/>
                </a:solidFill>
              </a:defRPr>
            </a:pPr>
            <a:r>
              <a:t>• Statistical Anomaly Node (Bonus): Flags spend spikes &gt; 2σ against pure baselines.</a:t>
            </a:r>
            <a:br/>
            <a:r>
              <a:t>• Confidence Signalling (Bonus): Explicit High, Moderate, and Guardrail badges.</a:t>
            </a:r>
            <a:br/>
            <a:r>
              <a:t>• 1-Click CSV Export (Good-to-Have): Instant CSV download on all verifiable tables.</a:t>
            </a:r>
            <a:br/>
            <a:r>
              <a:t>• Security Hardening: Safe '?' parameter bindings completely neutralize SQL injection.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